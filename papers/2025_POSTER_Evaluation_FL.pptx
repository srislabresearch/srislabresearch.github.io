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D40"/>
    <a:srgbClr val="F5F5DC"/>
    <a:srgbClr val="C0C0C0"/>
    <a:srgbClr val="D3D3D3"/>
    <a:srgbClr val="001F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58"/>
  </p:normalViewPr>
  <p:slideViewPr>
    <p:cSldViewPr snapToGrid="0">
      <p:cViewPr varScale="1">
        <p:scale>
          <a:sx n="25" d="100"/>
          <a:sy n="25" d="100"/>
        </p:scale>
        <p:origin x="196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420C49-1659-4E85-BC98-1818E0127097}" type="datetimeFigureOut">
              <a:rPr lang="en-GB" smtClean="0"/>
              <a:t>15/02/2026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1532441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20C49-1659-4E85-BC98-1818E0127097}" type="datetimeFigureOut">
              <a:rPr lang="en-GB" smtClean="0"/>
              <a:t>15/02/2026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98506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420C49-1659-4E85-BC98-1818E0127097}" type="datetimeFigureOut">
              <a:rPr lang="en-GB" smtClean="0"/>
              <a:t>15/02/2026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425096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420C49-1659-4E85-BC98-1818E0127097}" type="datetimeFigureOut">
              <a:rPr lang="en-GB" smtClean="0"/>
              <a:t>15/02/2026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1786931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420C49-1659-4E85-BC98-1818E0127097}" type="datetimeFigureOut">
              <a:rPr lang="en-GB" smtClean="0"/>
              <a:t>15/02/2026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1582436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420C49-1659-4E85-BC98-1818E0127097}" type="datetimeFigureOut">
              <a:rPr lang="en-GB" smtClean="0"/>
              <a:t>15/02/2026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1695413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420C49-1659-4E85-BC98-1818E0127097}" type="datetimeFigureOut">
              <a:rPr lang="en-GB" smtClean="0"/>
              <a:t>15/02/2026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4130772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C420C49-1659-4E85-BC98-1818E0127097}" type="datetimeFigureOut">
              <a:rPr lang="en-GB" smtClean="0"/>
              <a:t>15/02/2026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54602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C420C49-1659-4E85-BC98-1818E0127097}" type="datetimeFigureOut">
              <a:rPr lang="en-GB" smtClean="0"/>
              <a:t>15/02/2026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863727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20C49-1659-4E85-BC98-1818E0127097}" type="datetimeFigureOut">
              <a:rPr lang="en-GB" smtClean="0"/>
              <a:t>15/02/2026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989234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20C49-1659-4E85-BC98-1818E0127097}" type="datetimeFigureOut">
              <a:rPr lang="en-GB" smtClean="0"/>
              <a:t>15/02/2026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6AF5FC-40BE-45A4-8D6A-8675E56468F5}" type="slidenum">
              <a:rPr lang="en-GB" smtClean="0"/>
              <a:t>‹#›</a:t>
            </a:fld>
            <a:endParaRPr lang="en-GB"/>
          </a:p>
        </p:txBody>
      </p:sp>
    </p:spTree>
    <p:extLst>
      <p:ext uri="{BB962C8B-B14F-4D97-AF65-F5344CB8AC3E}">
        <p14:creationId xmlns:p14="http://schemas.microsoft.com/office/powerpoint/2010/main" val="4023894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1C420C49-1659-4E85-BC98-1818E0127097}" type="datetimeFigureOut">
              <a:rPr lang="en-GB" smtClean="0"/>
              <a:t>15/02/2026</a:t>
            </a:fld>
            <a:endParaRPr lang="en-GB"/>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A46AF5FC-40BE-45A4-8D6A-8675E56468F5}" type="slidenum">
              <a:rPr lang="en-GB" smtClean="0"/>
              <a:t>‹#›</a:t>
            </a:fld>
            <a:endParaRPr lang="en-GB"/>
          </a:p>
        </p:txBody>
      </p:sp>
    </p:spTree>
    <p:extLst>
      <p:ext uri="{BB962C8B-B14F-4D97-AF65-F5344CB8AC3E}">
        <p14:creationId xmlns:p14="http://schemas.microsoft.com/office/powerpoint/2010/main" val="22239056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jpg"/><Relationship Id="rId9"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FD5D1-C219-EB7C-660F-C8ECAA23FCA7}"/>
              </a:ext>
            </a:extLst>
          </p:cNvPr>
          <p:cNvSpPr>
            <a:spLocks noGrp="1"/>
          </p:cNvSpPr>
          <p:nvPr>
            <p:ph type="ctrTitle"/>
          </p:nvPr>
        </p:nvSpPr>
        <p:spPr>
          <a:xfrm>
            <a:off x="0" y="0"/>
            <a:ext cx="43891200" cy="2625448"/>
          </a:xfrm>
          <a:solidFill>
            <a:schemeClr val="accent3"/>
          </a:solidFill>
          <a:ln w="57150">
            <a:solidFill>
              <a:schemeClr val="tx1"/>
            </a:solidFill>
          </a:ln>
          <a:effectLst>
            <a:outerShdw blurRad="50800" dist="38100" dir="2700000" algn="tl" rotWithShape="0">
              <a:prstClr val="black">
                <a:alpha val="40000"/>
              </a:prstClr>
            </a:outerShdw>
          </a:effectLst>
        </p:spPr>
        <p:txBody>
          <a:bodyPr>
            <a:normAutofit fontScale="90000"/>
          </a:bodyPr>
          <a:lstStyle/>
          <a:p>
            <a:pPr marL="36000">
              <a:lnSpc>
                <a:spcPct val="100000"/>
              </a:lnSpc>
            </a:pPr>
            <a:r>
              <a:rPr lang="en-US" sz="10000" dirty="0">
                <a:solidFill>
                  <a:schemeClr val="bg1"/>
                </a:solidFill>
                <a:latin typeface="Times New Roman" panose="02020603050405020304" pitchFamily="18" charset="0"/>
                <a:cs typeface="Times New Roman" panose="02020603050405020304" pitchFamily="18" charset="0"/>
              </a:rPr>
              <a:t>Evaluating Federated Object Detection for </a:t>
            </a:r>
            <a:br>
              <a:rPr lang="en-US" sz="10000" dirty="0">
                <a:solidFill>
                  <a:schemeClr val="bg1"/>
                </a:solidFill>
                <a:latin typeface="Times New Roman" panose="02020603050405020304" pitchFamily="18" charset="0"/>
                <a:cs typeface="Times New Roman" panose="02020603050405020304" pitchFamily="18" charset="0"/>
              </a:rPr>
            </a:br>
            <a:r>
              <a:rPr lang="en-US" sz="10000" dirty="0">
                <a:solidFill>
                  <a:schemeClr val="bg1"/>
                </a:solidFill>
                <a:latin typeface="Times New Roman" panose="02020603050405020304" pitchFamily="18" charset="0"/>
                <a:cs typeface="Times New Roman" panose="02020603050405020304" pitchFamily="18" charset="0"/>
              </a:rPr>
              <a:t>Connected Autonomous Vehicles</a:t>
            </a:r>
            <a:endParaRPr lang="en-GB" sz="10000" dirty="0">
              <a:solidFill>
                <a:schemeClr val="bg1"/>
              </a:solidFill>
              <a:latin typeface="Times New Roman" panose="02020603050405020304" pitchFamily="18" charset="0"/>
              <a:cs typeface="Times New Roman" panose="02020603050405020304" pitchFamily="18" charset="0"/>
            </a:endParaRPr>
          </a:p>
        </p:txBody>
      </p:sp>
      <p:sp>
        <p:nvSpPr>
          <p:cNvPr id="4" name="Text Placeholder 22">
            <a:extLst>
              <a:ext uri="{FF2B5EF4-FFF2-40B4-BE49-F238E27FC236}">
                <a16:creationId xmlns:a16="http://schemas.microsoft.com/office/drawing/2014/main" id="{BC18FACE-C0C2-8AA7-D2FA-8BE1391685C3}"/>
              </a:ext>
            </a:extLst>
          </p:cNvPr>
          <p:cNvSpPr txBox="1">
            <a:spLocks/>
          </p:cNvSpPr>
          <p:nvPr/>
        </p:nvSpPr>
        <p:spPr>
          <a:xfrm>
            <a:off x="146961" y="3339391"/>
            <a:ext cx="43597278" cy="1219200"/>
          </a:xfrm>
          <a:prstGeom prst="rect">
            <a:avLst/>
          </a:prstGeom>
          <a:ln>
            <a:noFill/>
          </a:ln>
        </p:spPr>
        <p:txBody>
          <a:bodyPr/>
          <a:lst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a:lstStyle>
          <a:p>
            <a:pPr marL="0" indent="0" algn="ctr">
              <a:lnSpc>
                <a:spcPts val="100"/>
              </a:lnSpc>
              <a:buNone/>
            </a:pPr>
            <a:r>
              <a:rPr lang="en-US" altLang="en-US" sz="4800" b="1" dirty="0">
                <a:latin typeface="Times New Roman" panose="02020603050405020304" pitchFamily="18" charset="0"/>
                <a:cs typeface="Times New Roman" panose="02020603050405020304" pitchFamily="18" charset="0"/>
              </a:rPr>
              <a:t>Komala Subramanyam Cherukuri, </a:t>
            </a:r>
            <a:r>
              <a:rPr lang="en-GB" sz="4800" b="1" dirty="0">
                <a:latin typeface="Times New Roman" panose="02020603050405020304" pitchFamily="18" charset="0"/>
                <a:cs typeface="Times New Roman" panose="02020603050405020304" pitchFamily="18" charset="0"/>
              </a:rPr>
              <a:t>Research Assistant at Secure, Reliable, Intelligent Systems Lab, University of North Texas</a:t>
            </a:r>
          </a:p>
          <a:p>
            <a:pPr marL="0" indent="0" algn="ctr">
              <a:lnSpc>
                <a:spcPts val="100"/>
              </a:lnSpc>
              <a:buNone/>
            </a:pPr>
            <a:r>
              <a:rPr lang="en-US" altLang="en-US" sz="4800" b="1" dirty="0">
                <a:latin typeface="Times New Roman" panose="02020603050405020304" pitchFamily="18" charset="0"/>
                <a:cs typeface="Times New Roman" panose="02020603050405020304" pitchFamily="18" charset="0"/>
              </a:rPr>
              <a:t>Advisors: </a:t>
            </a:r>
            <a:r>
              <a:rPr lang="en-GB" sz="4800" b="1" dirty="0">
                <a:latin typeface="Times New Roman" panose="02020603050405020304" pitchFamily="18" charset="0"/>
                <a:cs typeface="Times New Roman" panose="02020603050405020304" pitchFamily="18" charset="0"/>
              </a:rPr>
              <a:t>Dr. </a:t>
            </a:r>
            <a:r>
              <a:rPr lang="en-GB" sz="4800" b="1" dirty="0" err="1">
                <a:latin typeface="Times New Roman" panose="02020603050405020304" pitchFamily="18" charset="0"/>
                <a:cs typeface="Times New Roman" panose="02020603050405020304" pitchFamily="18" charset="0"/>
              </a:rPr>
              <a:t>Kewei</a:t>
            </a:r>
            <a:r>
              <a:rPr lang="en-GB" sz="4800" b="1" dirty="0">
                <a:latin typeface="Times New Roman" panose="02020603050405020304" pitchFamily="18" charset="0"/>
                <a:cs typeface="Times New Roman" panose="02020603050405020304" pitchFamily="18" charset="0"/>
              </a:rPr>
              <a:t> Sha, </a:t>
            </a:r>
            <a:r>
              <a:rPr lang="en-US" sz="4800" b="1" dirty="0">
                <a:latin typeface="Times New Roman" panose="02020603050405020304" pitchFamily="18" charset="0"/>
                <a:cs typeface="Times New Roman" panose="02020603050405020304" pitchFamily="18" charset="0"/>
              </a:rPr>
              <a:t>The Anuradha and Vikas Sinha Department of Data Science,</a:t>
            </a:r>
            <a:r>
              <a:rPr lang="en-GB" sz="4800" b="1" dirty="0">
                <a:latin typeface="Times New Roman" panose="02020603050405020304" pitchFamily="18" charset="0"/>
                <a:cs typeface="Times New Roman" panose="02020603050405020304" pitchFamily="18" charset="0"/>
              </a:rPr>
              <a:t> University of North Texas</a:t>
            </a:r>
          </a:p>
        </p:txBody>
      </p:sp>
      <p:sp>
        <p:nvSpPr>
          <p:cNvPr id="7" name="Text Placeholder 66">
            <a:extLst>
              <a:ext uri="{FF2B5EF4-FFF2-40B4-BE49-F238E27FC236}">
                <a16:creationId xmlns:a16="http://schemas.microsoft.com/office/drawing/2014/main" id="{C1605717-C389-BC30-9736-F8A75992077A}"/>
              </a:ext>
            </a:extLst>
          </p:cNvPr>
          <p:cNvSpPr txBox="1">
            <a:spLocks/>
          </p:cNvSpPr>
          <p:nvPr/>
        </p:nvSpPr>
        <p:spPr>
          <a:xfrm>
            <a:off x="471033" y="4330772"/>
            <a:ext cx="13851885" cy="1101999"/>
          </a:xfrm>
          <a:prstGeom prst="rect">
            <a:avLst/>
          </a:prstGeom>
          <a:solidFill>
            <a:schemeClr val="accent3"/>
          </a:solidFill>
          <a:ln w="38100">
            <a:solidFill>
              <a:schemeClr val="tx1"/>
            </a:solidFill>
          </a:ln>
        </p:spPr>
        <p:style>
          <a:lnRef idx="2">
            <a:schemeClr val="accent3"/>
          </a:lnRef>
          <a:fillRef idx="1">
            <a:schemeClr val="lt1"/>
          </a:fillRef>
          <a:effectRef idx="0">
            <a:schemeClr val="accent3"/>
          </a:effectRef>
          <a:fontRef idx="minor">
            <a:schemeClr val="dk1"/>
          </a:fontRef>
        </p:style>
        <p:txBody>
          <a:bodyPr vert="horz" lIns="365760" tIns="45720" rIns="91440" bIns="45720" rtlCol="0" anchor="ctr">
            <a:noAutofit/>
          </a:bodyPr>
          <a:lstStyle>
            <a:lvl1pPr marL="0" indent="0" algn="ctr" defTabSz="4389120" rtl="0" eaLnBrk="1" latinLnBrk="0" hangingPunct="1">
              <a:lnSpc>
                <a:spcPct val="100000"/>
              </a:lnSpc>
              <a:spcBef>
                <a:spcPts val="0"/>
              </a:spcBef>
              <a:buClr>
                <a:schemeClr val="bg1">
                  <a:lumMod val="65000"/>
                </a:schemeClr>
              </a:buClr>
              <a:buFont typeface="Arial" panose="020B0604020202020204" pitchFamily="34" charset="0"/>
              <a:buNone/>
              <a:defRPr sz="5400" kern="1200" cap="none"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9pPr>
          </a:lstStyle>
          <a:p>
            <a:r>
              <a:rPr lang="en-US" b="1" dirty="0">
                <a:latin typeface="Times New Roman" panose="02020603050405020304" pitchFamily="18" charset="0"/>
                <a:cs typeface="Times New Roman" panose="02020603050405020304" pitchFamily="18" charset="0"/>
              </a:rPr>
              <a:t>Introduction</a:t>
            </a:r>
          </a:p>
        </p:txBody>
      </p:sp>
      <p:pic>
        <p:nvPicPr>
          <p:cNvPr id="8" name="Picture 8" descr="SRIS Lab Icon">
            <a:extLst>
              <a:ext uri="{FF2B5EF4-FFF2-40B4-BE49-F238E27FC236}">
                <a16:creationId xmlns:a16="http://schemas.microsoft.com/office/drawing/2014/main" id="{84DB034D-9015-9AA8-FAA1-A01B77B341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576" y="108344"/>
            <a:ext cx="7548663" cy="240875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diagram of a computer model&#10;&#10;AI-generated content may be incorrect.">
            <a:extLst>
              <a:ext uri="{FF2B5EF4-FFF2-40B4-BE49-F238E27FC236}">
                <a16:creationId xmlns:a16="http://schemas.microsoft.com/office/drawing/2014/main" id="{D29CF4C3-EA5B-B8AA-74B5-97BEEE852B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17232" y="5714903"/>
            <a:ext cx="11538943" cy="7012530"/>
          </a:xfrm>
          <a:prstGeom prst="rect">
            <a:avLst/>
          </a:prstGeom>
          <a:ln w="63500" cap="sq">
            <a:solidFill>
              <a:srgbClr val="004D40"/>
            </a:solidFill>
            <a:miter lim="800000"/>
          </a:ln>
          <a:effectLst>
            <a:outerShdw blurRad="57150" dist="50800" dir="2700000" algn="tl" rotWithShape="0">
              <a:srgbClr val="000000">
                <a:alpha val="40000"/>
              </a:srgbClr>
            </a:outerShdw>
          </a:effectLst>
        </p:spPr>
      </p:pic>
      <p:pic>
        <p:nvPicPr>
          <p:cNvPr id="26" name="Picture 25" descr="A comparison of data and model&#10;&#10;AI-generated content may be incorrect.">
            <a:extLst>
              <a:ext uri="{FF2B5EF4-FFF2-40B4-BE49-F238E27FC236}">
                <a16:creationId xmlns:a16="http://schemas.microsoft.com/office/drawing/2014/main" id="{AFE37676-CCB1-A434-2255-A946DDC817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493" y="26776392"/>
            <a:ext cx="13420427" cy="4498260"/>
          </a:xfrm>
          <a:prstGeom prst="rect">
            <a:avLst/>
          </a:prstGeom>
          <a:ln w="63500" cap="sq">
            <a:solidFill>
              <a:srgbClr val="004D40"/>
            </a:solidFill>
            <a:miter lim="800000"/>
          </a:ln>
          <a:effectLst>
            <a:outerShdw blurRad="57150" dist="50800" dir="2700000" algn="tl" rotWithShape="0">
              <a:srgbClr val="000000">
                <a:alpha val="40000"/>
              </a:srgbClr>
            </a:outerShdw>
          </a:effectLst>
        </p:spPr>
      </p:pic>
      <p:pic>
        <p:nvPicPr>
          <p:cNvPr id="43" name="Picture 42" descr="A graph of different colored bars&#10;&#10;AI-generated content may be incorrect.">
            <a:extLst>
              <a:ext uri="{FF2B5EF4-FFF2-40B4-BE49-F238E27FC236}">
                <a16:creationId xmlns:a16="http://schemas.microsoft.com/office/drawing/2014/main" id="{3A8898A7-0905-BD59-1342-8F7313381A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881695" y="26776392"/>
            <a:ext cx="18020115" cy="4475687"/>
          </a:xfrm>
          <a:prstGeom prst="rect">
            <a:avLst/>
          </a:prstGeom>
          <a:ln w="63500" cap="sq">
            <a:solidFill>
              <a:srgbClr val="004D40"/>
            </a:solidFill>
            <a:miter lim="800000"/>
          </a:ln>
          <a:effectLst>
            <a:outerShdw blurRad="57150" dist="50800" dir="2700000" algn="tl" rotWithShape="0">
              <a:srgbClr val="000000">
                <a:alpha val="40000"/>
              </a:srgbClr>
            </a:outerShdw>
          </a:effectLst>
        </p:spPr>
      </p:pic>
      <p:pic>
        <p:nvPicPr>
          <p:cNvPr id="47" name="Picture 46" descr="A diagram of a road with traffic lights&#10;&#10;AI-generated content may be incorrect.">
            <a:extLst>
              <a:ext uri="{FF2B5EF4-FFF2-40B4-BE49-F238E27FC236}">
                <a16:creationId xmlns:a16="http://schemas.microsoft.com/office/drawing/2014/main" id="{F5AF10BA-686E-7EDA-16E2-1CA6396DAA29}"/>
              </a:ext>
            </a:extLst>
          </p:cNvPr>
          <p:cNvPicPr>
            <a:picLocks noChangeAspect="1"/>
          </p:cNvPicPr>
          <p:nvPr/>
        </p:nvPicPr>
        <p:blipFill>
          <a:blip r:embed="rId6">
            <a:extLst>
              <a:ext uri="{28A0092B-C50C-407E-A947-70E740481C1C}">
                <a14:useLocalDpi xmlns:a14="http://schemas.microsoft.com/office/drawing/2010/main" val="0"/>
              </a:ext>
            </a:extLst>
          </a:blip>
          <a:srcRect r="4755" b="2837"/>
          <a:stretch>
            <a:fillRect/>
          </a:stretch>
        </p:blipFill>
        <p:spPr>
          <a:xfrm>
            <a:off x="1825895" y="9501203"/>
            <a:ext cx="10897884" cy="10724192"/>
          </a:xfrm>
          <a:prstGeom prst="rect">
            <a:avLst/>
          </a:prstGeom>
          <a:ln w="63500" cap="sq">
            <a:solidFill>
              <a:srgbClr val="004D40"/>
            </a:solidFill>
            <a:miter lim="800000"/>
          </a:ln>
          <a:effectLst>
            <a:outerShdw dist="50800" dir="2700000" algn="tl" rotWithShape="0">
              <a:srgbClr val="000000">
                <a:alpha val="40000"/>
              </a:srgbClr>
            </a:outerShdw>
          </a:effectLst>
        </p:spPr>
      </p:pic>
      <p:sp>
        <p:nvSpPr>
          <p:cNvPr id="13" name="Content Placeholder 10">
            <a:extLst>
              <a:ext uri="{FF2B5EF4-FFF2-40B4-BE49-F238E27FC236}">
                <a16:creationId xmlns:a16="http://schemas.microsoft.com/office/drawing/2014/main" id="{82696139-4D1C-1406-7214-EE1543621F7A}"/>
              </a:ext>
            </a:extLst>
          </p:cNvPr>
          <p:cNvSpPr txBox="1">
            <a:spLocks/>
          </p:cNvSpPr>
          <p:nvPr/>
        </p:nvSpPr>
        <p:spPr>
          <a:xfrm>
            <a:off x="497867" y="5538267"/>
            <a:ext cx="13825051" cy="3583646"/>
          </a:xfrm>
          <a:prstGeom prst="rect">
            <a:avLst/>
          </a:prstGeom>
        </p:spPr>
        <p:txBody>
          <a:bodyPr vert="horz" lIns="91440" tIns="182880" rIns="91440" bIns="45720" rtlCol="0">
            <a:no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just">
              <a:buNone/>
            </a:pPr>
            <a:r>
              <a:rPr lang="en-US" sz="3600" dirty="0">
                <a:latin typeface="Times New Roman" panose="02020603050405020304" pitchFamily="18" charset="0"/>
                <a:ea typeface="Verdana" panose="020B0604030504040204" pitchFamily="34" charset="0"/>
                <a:cs typeface="Times New Roman" panose="02020603050405020304" pitchFamily="18" charset="0"/>
              </a:rPr>
              <a:t>Object detection is crucial for Connected Autonomous Vehicles (CAVs) to perceive their surroundings. Centralized training of models often achieves promising accuracy, fast convergence, and simplified training process, falls short in scalability, adaptability, and privacy preserving. Federated learning (FL), by contrast, enables collaborative, privacy-preserving, and continuous training across naturally distributed CAVs shown in Fig 1. </a:t>
            </a:r>
          </a:p>
        </p:txBody>
      </p:sp>
      <p:sp>
        <p:nvSpPr>
          <p:cNvPr id="58" name="Content Placeholder 10">
            <a:extLst>
              <a:ext uri="{FF2B5EF4-FFF2-40B4-BE49-F238E27FC236}">
                <a16:creationId xmlns:a16="http://schemas.microsoft.com/office/drawing/2014/main" id="{BD8AE9D1-DF8D-5F84-AFAF-A6DC17A61162}"/>
              </a:ext>
            </a:extLst>
          </p:cNvPr>
          <p:cNvSpPr txBox="1">
            <a:spLocks/>
          </p:cNvSpPr>
          <p:nvPr/>
        </p:nvSpPr>
        <p:spPr>
          <a:xfrm>
            <a:off x="1028733" y="20229842"/>
            <a:ext cx="12763317" cy="778995"/>
          </a:xfrm>
          <a:prstGeom prst="rect">
            <a:avLst/>
          </a:prstGeom>
        </p:spPr>
        <p:txBody>
          <a:bodyPr vert="horz" lIns="91440" tIns="182880" rIns="91440" bIns="45720" rtlCol="0">
            <a:no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ctr">
              <a:buNone/>
            </a:pPr>
            <a:r>
              <a:rPr lang="en-US" sz="3600" b="1" u="sng" dirty="0">
                <a:latin typeface="Times New Roman" panose="02020603050405020304" pitchFamily="18" charset="0"/>
                <a:cs typeface="Times New Roman" panose="02020603050405020304" pitchFamily="18" charset="0"/>
              </a:rPr>
              <a:t>Figure 1. Federated Learning for CAVs</a:t>
            </a:r>
          </a:p>
        </p:txBody>
      </p:sp>
      <p:sp>
        <p:nvSpPr>
          <p:cNvPr id="60" name="TextBox 59">
            <a:extLst>
              <a:ext uri="{FF2B5EF4-FFF2-40B4-BE49-F238E27FC236}">
                <a16:creationId xmlns:a16="http://schemas.microsoft.com/office/drawing/2014/main" id="{19A523C4-CA0E-1360-02EE-D62A3627D7D6}"/>
              </a:ext>
            </a:extLst>
          </p:cNvPr>
          <p:cNvSpPr txBox="1"/>
          <p:nvPr/>
        </p:nvSpPr>
        <p:spPr>
          <a:xfrm>
            <a:off x="415615" y="22601309"/>
            <a:ext cx="13907303" cy="2390358"/>
          </a:xfrm>
          <a:prstGeom prst="rect">
            <a:avLst/>
          </a:prstGeom>
          <a:noFill/>
        </p:spPr>
        <p:txBody>
          <a:bodyPr wrap="square">
            <a:noAutofit/>
          </a:bodyPr>
          <a:lstStyle/>
          <a:p>
            <a:pPr algn="just"/>
            <a:r>
              <a:rPr lang="en-US" sz="3600" dirty="0">
                <a:latin typeface="Times New Roman" panose="02020603050405020304" pitchFamily="18" charset="0"/>
                <a:cs typeface="Times New Roman" panose="02020603050405020304" pitchFamily="18" charset="0"/>
              </a:rPr>
              <a:t>Current FL studies focus on accuracy but overlook feasibility. We evaluate models under diverse conditions and resource limits to assess the real-world readiness of FL for CAV deployment. Practical deployment must address three critical factors: </a:t>
            </a:r>
          </a:p>
          <a:p>
            <a:pPr marL="857250" indent="-857250" algn="just">
              <a:buAutoNum type="romanLcParenBoth"/>
            </a:pPr>
            <a:r>
              <a:rPr lang="en-US" sz="3600" dirty="0">
                <a:latin typeface="Times New Roman" panose="02020603050405020304" pitchFamily="18" charset="0"/>
                <a:cs typeface="Times New Roman" panose="02020603050405020304" pitchFamily="18" charset="0"/>
              </a:rPr>
              <a:t>Heterogeneity from non-IID data distributions, </a:t>
            </a:r>
          </a:p>
          <a:p>
            <a:pPr marL="857250" indent="-857250" algn="just">
              <a:buAutoNum type="romanLcParenBoth"/>
            </a:pPr>
            <a:r>
              <a:rPr lang="en-US" sz="3600" dirty="0">
                <a:latin typeface="Times New Roman" panose="02020603050405020304" pitchFamily="18" charset="0"/>
                <a:cs typeface="Times New Roman" panose="02020603050405020304" pitchFamily="18" charset="0"/>
              </a:rPr>
              <a:t>Constrained onboard computing hardware</a:t>
            </a:r>
          </a:p>
          <a:p>
            <a:pPr marL="857250" indent="-857250" algn="just">
              <a:buAutoNum type="romanLcParenBoth"/>
            </a:pPr>
            <a:r>
              <a:rPr lang="en-US" sz="3600" dirty="0">
                <a:latin typeface="Times New Roman" panose="02020603050405020304" pitchFamily="18" charset="0"/>
                <a:cs typeface="Times New Roman" panose="02020603050405020304" pitchFamily="18" charset="0"/>
              </a:rPr>
              <a:t>Environmental variability such as lighting and weather</a:t>
            </a:r>
          </a:p>
        </p:txBody>
      </p:sp>
      <p:sp>
        <p:nvSpPr>
          <p:cNvPr id="63" name="TextBox 62">
            <a:extLst>
              <a:ext uri="{FF2B5EF4-FFF2-40B4-BE49-F238E27FC236}">
                <a16:creationId xmlns:a16="http://schemas.microsoft.com/office/drawing/2014/main" id="{68D5B601-C49F-E215-9971-FF2B0BA65525}"/>
              </a:ext>
            </a:extLst>
          </p:cNvPr>
          <p:cNvSpPr txBox="1"/>
          <p:nvPr/>
        </p:nvSpPr>
        <p:spPr>
          <a:xfrm>
            <a:off x="15260762" y="15179684"/>
            <a:ext cx="27955946" cy="1754326"/>
          </a:xfrm>
          <a:prstGeom prst="rect">
            <a:avLst/>
          </a:prstGeom>
          <a:noFill/>
        </p:spPr>
        <p:txBody>
          <a:bodyPr wrap="square">
            <a:spAutoFit/>
          </a:bodyPr>
          <a:lstStyle/>
          <a:p>
            <a:pPr algn="just"/>
            <a:r>
              <a:rPr lang="en-US" sz="3600" b="1" dirty="0">
                <a:latin typeface="Times New Roman" panose="02020603050405020304" pitchFamily="18" charset="0"/>
                <a:cs typeface="Times New Roman" panose="02020603050405020304" pitchFamily="18" charset="0"/>
              </a:rPr>
              <a:t>Object Detection Models: </a:t>
            </a:r>
            <a:r>
              <a:rPr lang="en-US" sz="3600" dirty="0">
                <a:latin typeface="Times New Roman" panose="02020603050405020304" pitchFamily="18" charset="0"/>
                <a:cs typeface="Times New Roman" panose="02020603050405020304" pitchFamily="18" charset="0"/>
              </a:rPr>
              <a:t>YOLOv5, v8, v11		</a:t>
            </a:r>
            <a:r>
              <a:rPr lang="en-US" sz="3600" b="1" dirty="0">
                <a:latin typeface="Times New Roman" panose="02020603050405020304" pitchFamily="18" charset="0"/>
                <a:cs typeface="Times New Roman" panose="02020603050405020304" pitchFamily="18" charset="0"/>
              </a:rPr>
              <a:t>Aggregation Methods: </a:t>
            </a:r>
            <a:r>
              <a:rPr lang="en-US" sz="3600" dirty="0" err="1">
                <a:latin typeface="Times New Roman" panose="02020603050405020304" pitchFamily="18" charset="0"/>
                <a:cs typeface="Times New Roman" panose="02020603050405020304" pitchFamily="18" charset="0"/>
              </a:rPr>
              <a:t>FedAvg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FedProx</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FedAsync</a:t>
            </a:r>
            <a:r>
              <a:rPr lang="en-US" sz="36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Datasets: </a:t>
            </a:r>
            <a:r>
              <a:rPr lang="en-US" sz="3600" dirty="0">
                <a:latin typeface="Times New Roman" panose="02020603050405020304" pitchFamily="18" charset="0"/>
                <a:cs typeface="Times New Roman" panose="02020603050405020304" pitchFamily="18" charset="0"/>
              </a:rPr>
              <a:t>KITTI, BDD100K, </a:t>
            </a:r>
            <a:r>
              <a:rPr lang="en-US" sz="3600" dirty="0" err="1">
                <a:latin typeface="Times New Roman" panose="02020603050405020304" pitchFamily="18" charset="0"/>
                <a:cs typeface="Times New Roman" panose="02020603050405020304" pitchFamily="18" charset="0"/>
              </a:rPr>
              <a:t>NuScenes</a:t>
            </a:r>
            <a:r>
              <a:rPr lang="en-US" sz="3600" dirty="0">
                <a:latin typeface="Times New Roman" panose="02020603050405020304" pitchFamily="18" charset="0"/>
                <a:cs typeface="Times New Roman" panose="02020603050405020304" pitchFamily="18" charset="0"/>
              </a:rPr>
              <a:t> </a:t>
            </a:r>
          </a:p>
          <a:p>
            <a:pPr algn="just"/>
            <a:r>
              <a:rPr lang="en-US" sz="3600" b="1" dirty="0">
                <a:latin typeface="Times New Roman" panose="02020603050405020304" pitchFamily="18" charset="0"/>
                <a:cs typeface="Times New Roman" panose="02020603050405020304" pitchFamily="18" charset="0"/>
              </a:rPr>
              <a:t>Evaluation Goals: </a:t>
            </a:r>
            <a:r>
              <a:rPr lang="en-US" sz="3600" dirty="0">
                <a:latin typeface="Times New Roman" panose="02020603050405020304" pitchFamily="18" charset="0"/>
                <a:cs typeface="Times New Roman" panose="02020603050405020304" pitchFamily="18" charset="0"/>
              </a:rPr>
              <a:t>We analyze trade-offs between detection accuracy, resource utilization under varying resolutions, batch sizes, weather, and lighting conditions, as well as dynamic client participation, to guide robust and scalable FL deployment in CAVs.</a:t>
            </a:r>
          </a:p>
        </p:txBody>
      </p:sp>
      <p:sp>
        <p:nvSpPr>
          <p:cNvPr id="64" name="Content Placeholder 10">
            <a:extLst>
              <a:ext uri="{FF2B5EF4-FFF2-40B4-BE49-F238E27FC236}">
                <a16:creationId xmlns:a16="http://schemas.microsoft.com/office/drawing/2014/main" id="{DAAE0E23-2F9C-153B-39D3-7DD3411F45A2}"/>
              </a:ext>
            </a:extLst>
          </p:cNvPr>
          <p:cNvSpPr txBox="1">
            <a:spLocks/>
          </p:cNvSpPr>
          <p:nvPr/>
        </p:nvSpPr>
        <p:spPr>
          <a:xfrm>
            <a:off x="911051" y="31327594"/>
            <a:ext cx="12763317" cy="786992"/>
          </a:xfrm>
          <a:prstGeom prst="rect">
            <a:avLst/>
          </a:prstGeom>
        </p:spPr>
        <p:txBody>
          <a:bodyPr vert="horz" lIns="91440" tIns="182880" rIns="91440" bIns="45720" rtlCol="0">
            <a:no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ctr">
              <a:buNone/>
            </a:pPr>
            <a:r>
              <a:rPr lang="en-US" sz="3600" b="1" u="sng" dirty="0">
                <a:latin typeface="Times New Roman" panose="02020603050405020304" pitchFamily="18" charset="0"/>
                <a:cs typeface="Times New Roman" panose="02020603050405020304" pitchFamily="18" charset="0"/>
              </a:rPr>
              <a:t>Figure 2. Heterogeneity in Connected Autonomous Vehicles</a:t>
            </a:r>
          </a:p>
        </p:txBody>
      </p:sp>
      <p:sp>
        <p:nvSpPr>
          <p:cNvPr id="68" name="Content Placeholder 10">
            <a:extLst>
              <a:ext uri="{FF2B5EF4-FFF2-40B4-BE49-F238E27FC236}">
                <a16:creationId xmlns:a16="http://schemas.microsoft.com/office/drawing/2014/main" id="{328486D1-E2B9-F4B6-A460-4E88376472D9}"/>
              </a:ext>
            </a:extLst>
          </p:cNvPr>
          <p:cNvSpPr txBox="1">
            <a:spLocks/>
          </p:cNvSpPr>
          <p:nvPr/>
        </p:nvSpPr>
        <p:spPr>
          <a:xfrm>
            <a:off x="15555183" y="12739415"/>
            <a:ext cx="13263040" cy="687759"/>
          </a:xfrm>
          <a:prstGeom prst="rect">
            <a:avLst/>
          </a:prstGeom>
        </p:spPr>
        <p:txBody>
          <a:bodyPr vert="horz" lIns="91440" tIns="182880" rIns="91440" bIns="45720" rtlCol="0">
            <a:no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ctr">
              <a:buNone/>
            </a:pPr>
            <a:r>
              <a:rPr lang="en-US" sz="3600" b="1" u="sng" dirty="0">
                <a:latin typeface="Times New Roman" panose="02020603050405020304" pitchFamily="18" charset="0"/>
                <a:cs typeface="Times New Roman" panose="02020603050405020304" pitchFamily="18" charset="0"/>
              </a:rPr>
              <a:t>Figure 3. FL Setup with Flower for Object Detection  Evaluation</a:t>
            </a:r>
          </a:p>
        </p:txBody>
      </p:sp>
      <p:sp>
        <p:nvSpPr>
          <p:cNvPr id="69" name="Text Placeholder 66">
            <a:extLst>
              <a:ext uri="{FF2B5EF4-FFF2-40B4-BE49-F238E27FC236}">
                <a16:creationId xmlns:a16="http://schemas.microsoft.com/office/drawing/2014/main" id="{D16FC52B-AFF2-5FE8-B333-9AC505D65A1B}"/>
              </a:ext>
            </a:extLst>
          </p:cNvPr>
          <p:cNvSpPr txBox="1">
            <a:spLocks/>
          </p:cNvSpPr>
          <p:nvPr/>
        </p:nvSpPr>
        <p:spPr>
          <a:xfrm>
            <a:off x="15260761" y="13785533"/>
            <a:ext cx="27955946" cy="1101999"/>
          </a:xfrm>
          <a:prstGeom prst="rect">
            <a:avLst/>
          </a:prstGeom>
          <a:solidFill>
            <a:schemeClr val="accent3"/>
          </a:solidFill>
          <a:ln w="38100">
            <a:solidFill>
              <a:schemeClr val="tx1"/>
            </a:solidFill>
          </a:ln>
        </p:spPr>
        <p:style>
          <a:lnRef idx="2">
            <a:schemeClr val="accent3"/>
          </a:lnRef>
          <a:fillRef idx="1">
            <a:schemeClr val="lt1"/>
          </a:fillRef>
          <a:effectRef idx="0">
            <a:schemeClr val="accent3"/>
          </a:effectRef>
          <a:fontRef idx="minor">
            <a:schemeClr val="dk1"/>
          </a:fontRef>
        </p:style>
        <p:txBody>
          <a:bodyPr vert="horz" lIns="365760" tIns="45720" rIns="91440" bIns="45720" rtlCol="0" anchor="ctr">
            <a:noAutofit/>
          </a:bodyPr>
          <a:lstStyle>
            <a:lvl1pPr marL="0" indent="0" algn="ctr" defTabSz="4389120" rtl="0" eaLnBrk="1" latinLnBrk="0" hangingPunct="1">
              <a:lnSpc>
                <a:spcPct val="100000"/>
              </a:lnSpc>
              <a:spcBef>
                <a:spcPts val="0"/>
              </a:spcBef>
              <a:buClr>
                <a:schemeClr val="bg1">
                  <a:lumMod val="65000"/>
                </a:schemeClr>
              </a:buClr>
              <a:buFont typeface="Arial" panose="020B0604020202020204" pitchFamily="34" charset="0"/>
              <a:buNone/>
              <a:defRPr sz="5400" kern="1200" cap="none"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9pPr>
          </a:lstStyle>
          <a:p>
            <a:r>
              <a:rPr lang="en-US" b="1" dirty="0">
                <a:latin typeface="Times New Roman" panose="02020603050405020304" pitchFamily="18" charset="0"/>
                <a:cs typeface="Times New Roman" panose="02020603050405020304" pitchFamily="18" charset="0"/>
              </a:rPr>
              <a:t>Experiment Results</a:t>
            </a:r>
          </a:p>
        </p:txBody>
      </p:sp>
      <p:graphicFrame>
        <p:nvGraphicFramePr>
          <p:cNvPr id="71" name="Table 70">
            <a:extLst>
              <a:ext uri="{FF2B5EF4-FFF2-40B4-BE49-F238E27FC236}">
                <a16:creationId xmlns:a16="http://schemas.microsoft.com/office/drawing/2014/main" id="{B972A217-1BB2-C40B-3DDC-3334274C7C73}"/>
              </a:ext>
            </a:extLst>
          </p:cNvPr>
          <p:cNvGraphicFramePr>
            <a:graphicFrameLocks noGrp="1"/>
          </p:cNvGraphicFramePr>
          <p:nvPr>
            <p:extLst>
              <p:ext uri="{D42A27DB-BD31-4B8C-83A1-F6EECF244321}">
                <p14:modId xmlns:p14="http://schemas.microsoft.com/office/powerpoint/2010/main" val="2203378529"/>
              </p:ext>
            </p:extLst>
          </p:nvPr>
        </p:nvGraphicFramePr>
        <p:xfrm>
          <a:off x="15606006" y="17293776"/>
          <a:ext cx="18775211" cy="3200400"/>
        </p:xfrm>
        <a:graphic>
          <a:graphicData uri="http://schemas.openxmlformats.org/drawingml/2006/table">
            <a:tbl>
              <a:tblPr firstRow="1" bandRow="1">
                <a:tableStyleId>{1FECB4D8-DB02-4DC6-A0A2-4F2EBAE1DC90}</a:tableStyleId>
              </a:tblPr>
              <a:tblGrid>
                <a:gridCol w="2192318">
                  <a:extLst>
                    <a:ext uri="{9D8B030D-6E8A-4147-A177-3AD203B41FA5}">
                      <a16:colId xmlns:a16="http://schemas.microsoft.com/office/drawing/2014/main" val="1289659774"/>
                    </a:ext>
                  </a:extLst>
                </a:gridCol>
                <a:gridCol w="1238530">
                  <a:extLst>
                    <a:ext uri="{9D8B030D-6E8A-4147-A177-3AD203B41FA5}">
                      <a16:colId xmlns:a16="http://schemas.microsoft.com/office/drawing/2014/main" val="525492668"/>
                    </a:ext>
                  </a:extLst>
                </a:gridCol>
                <a:gridCol w="1459696">
                  <a:extLst>
                    <a:ext uri="{9D8B030D-6E8A-4147-A177-3AD203B41FA5}">
                      <a16:colId xmlns:a16="http://schemas.microsoft.com/office/drawing/2014/main" val="2694208680"/>
                    </a:ext>
                  </a:extLst>
                </a:gridCol>
                <a:gridCol w="1297506">
                  <a:extLst>
                    <a:ext uri="{9D8B030D-6E8A-4147-A177-3AD203B41FA5}">
                      <a16:colId xmlns:a16="http://schemas.microsoft.com/office/drawing/2014/main" val="2599566786"/>
                    </a:ext>
                  </a:extLst>
                </a:gridCol>
                <a:gridCol w="1290217">
                  <a:extLst>
                    <a:ext uri="{9D8B030D-6E8A-4147-A177-3AD203B41FA5}">
                      <a16:colId xmlns:a16="http://schemas.microsoft.com/office/drawing/2014/main" val="3954001270"/>
                    </a:ext>
                  </a:extLst>
                </a:gridCol>
                <a:gridCol w="1431653">
                  <a:extLst>
                    <a:ext uri="{9D8B030D-6E8A-4147-A177-3AD203B41FA5}">
                      <a16:colId xmlns:a16="http://schemas.microsoft.com/office/drawing/2014/main" val="3071916070"/>
                    </a:ext>
                  </a:extLst>
                </a:gridCol>
                <a:gridCol w="1431653">
                  <a:extLst>
                    <a:ext uri="{9D8B030D-6E8A-4147-A177-3AD203B41FA5}">
                      <a16:colId xmlns:a16="http://schemas.microsoft.com/office/drawing/2014/main" val="895098004"/>
                    </a:ext>
                  </a:extLst>
                </a:gridCol>
                <a:gridCol w="1391275">
                  <a:extLst>
                    <a:ext uri="{9D8B030D-6E8A-4147-A177-3AD203B41FA5}">
                      <a16:colId xmlns:a16="http://schemas.microsoft.com/office/drawing/2014/main" val="4036782547"/>
                    </a:ext>
                  </a:extLst>
                </a:gridCol>
                <a:gridCol w="1431653">
                  <a:extLst>
                    <a:ext uri="{9D8B030D-6E8A-4147-A177-3AD203B41FA5}">
                      <a16:colId xmlns:a16="http://schemas.microsoft.com/office/drawing/2014/main" val="3663003457"/>
                    </a:ext>
                  </a:extLst>
                </a:gridCol>
                <a:gridCol w="1431653">
                  <a:extLst>
                    <a:ext uri="{9D8B030D-6E8A-4147-A177-3AD203B41FA5}">
                      <a16:colId xmlns:a16="http://schemas.microsoft.com/office/drawing/2014/main" val="383944342"/>
                    </a:ext>
                  </a:extLst>
                </a:gridCol>
                <a:gridCol w="1431653">
                  <a:extLst>
                    <a:ext uri="{9D8B030D-6E8A-4147-A177-3AD203B41FA5}">
                      <a16:colId xmlns:a16="http://schemas.microsoft.com/office/drawing/2014/main" val="4174448624"/>
                    </a:ext>
                  </a:extLst>
                </a:gridCol>
                <a:gridCol w="1315751">
                  <a:extLst>
                    <a:ext uri="{9D8B030D-6E8A-4147-A177-3AD203B41FA5}">
                      <a16:colId xmlns:a16="http://schemas.microsoft.com/office/drawing/2014/main" val="3675455781"/>
                    </a:ext>
                  </a:extLst>
                </a:gridCol>
                <a:gridCol w="1431653">
                  <a:extLst>
                    <a:ext uri="{9D8B030D-6E8A-4147-A177-3AD203B41FA5}">
                      <a16:colId xmlns:a16="http://schemas.microsoft.com/office/drawing/2014/main" val="111847682"/>
                    </a:ext>
                  </a:extLst>
                </a:gridCol>
              </a:tblGrid>
              <a:tr h="370840">
                <a:tc>
                  <a:txBody>
                    <a:bodyPr/>
                    <a:lstStyle/>
                    <a:p>
                      <a:pPr algn="ctr"/>
                      <a:r>
                        <a:rPr lang="en-US" sz="3600" dirty="0">
                          <a:ln>
                            <a:noFill/>
                          </a:ln>
                          <a:solidFill>
                            <a:schemeClr val="bg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3600" dirty="0" err="1">
                          <a:ln>
                            <a:noFill/>
                          </a:ln>
                          <a:solidFill>
                            <a:schemeClr val="bg1"/>
                          </a:solidFill>
                          <a:latin typeface="Times New Roman" panose="02020603050405020304" pitchFamily="18" charset="0"/>
                          <a:cs typeface="Times New Roman" panose="02020603050405020304" pitchFamily="18" charset="0"/>
                        </a:rPr>
                        <a:t>Centralised</a:t>
                      </a:r>
                      <a:endParaRPr lang="en-US" sz="3600" dirty="0">
                        <a:ln>
                          <a:noFill/>
                        </a:l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3600" dirty="0" err="1">
                          <a:ln>
                            <a:noFill/>
                          </a:ln>
                          <a:solidFill>
                            <a:schemeClr val="bg1"/>
                          </a:solidFill>
                          <a:latin typeface="Times New Roman" panose="02020603050405020304" pitchFamily="18" charset="0"/>
                          <a:cs typeface="Times New Roman" panose="02020603050405020304" pitchFamily="18" charset="0"/>
                        </a:rPr>
                        <a:t>FedAvg</a:t>
                      </a:r>
                      <a:endParaRPr lang="en-US" sz="3600" dirty="0">
                        <a:ln>
                          <a:noFill/>
                        </a:l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3600" dirty="0" err="1">
                          <a:ln>
                            <a:noFill/>
                          </a:ln>
                          <a:solidFill>
                            <a:schemeClr val="bg1"/>
                          </a:solidFill>
                          <a:latin typeface="Times New Roman" panose="02020603050405020304" pitchFamily="18" charset="0"/>
                          <a:cs typeface="Times New Roman" panose="02020603050405020304" pitchFamily="18" charset="0"/>
                        </a:rPr>
                        <a:t>FedProx</a:t>
                      </a:r>
                      <a:endParaRPr lang="en-US" sz="3600" dirty="0">
                        <a:ln>
                          <a:noFill/>
                        </a:l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3600" dirty="0" err="1">
                          <a:ln>
                            <a:noFill/>
                          </a:ln>
                          <a:solidFill>
                            <a:schemeClr val="bg1"/>
                          </a:solidFill>
                          <a:latin typeface="Times New Roman" panose="02020603050405020304" pitchFamily="18" charset="0"/>
                          <a:cs typeface="Times New Roman" panose="02020603050405020304" pitchFamily="18" charset="0"/>
                        </a:rPr>
                        <a:t>FedAsync</a:t>
                      </a:r>
                      <a:endParaRPr lang="en-US" sz="3600" dirty="0">
                        <a:ln>
                          <a:noFill/>
                        </a:l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7471145"/>
                  </a:ext>
                </a:extLst>
              </a:tr>
              <a:tr h="370840">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Dataset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3407355"/>
                  </a:ext>
                </a:extLst>
              </a:tr>
              <a:tr h="370840">
                <a:tc>
                  <a:txBody>
                    <a:bodyPr/>
                    <a:lstStyle/>
                    <a:p>
                      <a:r>
                        <a:rPr lang="en-US" sz="3600" b="1" dirty="0">
                          <a:ln>
                            <a:noFill/>
                          </a:ln>
                          <a:solidFill>
                            <a:schemeClr val="tx1"/>
                          </a:solidFill>
                          <a:latin typeface="Times New Roman" panose="02020603050405020304" pitchFamily="18" charset="0"/>
                          <a:cs typeface="Times New Roman" panose="02020603050405020304" pitchFamily="18" charset="0"/>
                        </a:rPr>
                        <a:t>KITTI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78.4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77.6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82.9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87.5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84.0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83.4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87.9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84.1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78.3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82.0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80.1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5710434"/>
                  </a:ext>
                </a:extLst>
              </a:tr>
              <a:tr h="370840">
                <a:tc>
                  <a:txBody>
                    <a:bodyPr/>
                    <a:lstStyle/>
                    <a:p>
                      <a:r>
                        <a:rPr lang="en-US" sz="3600" b="1" dirty="0">
                          <a:ln>
                            <a:noFill/>
                          </a:ln>
                          <a:solidFill>
                            <a:schemeClr val="tx1"/>
                          </a:solidFill>
                          <a:latin typeface="Times New Roman" panose="02020603050405020304" pitchFamily="18" charset="0"/>
                          <a:cs typeface="Times New Roman" panose="02020603050405020304" pitchFamily="18" charset="0"/>
                        </a:rPr>
                        <a:t>BDD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58.9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61.4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60.2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59.3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61.5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60.5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59.6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61.5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60.7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42.3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45.7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44.1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4237371"/>
                  </a:ext>
                </a:extLst>
              </a:tr>
              <a:tr h="370840">
                <a:tc>
                  <a:txBody>
                    <a:bodyPr/>
                    <a:lstStyle/>
                    <a:p>
                      <a:r>
                        <a:rPr lang="en-US" sz="3600" b="1" dirty="0" err="1">
                          <a:ln>
                            <a:noFill/>
                          </a:ln>
                          <a:solidFill>
                            <a:schemeClr val="tx1"/>
                          </a:solidFill>
                          <a:latin typeface="Times New Roman" panose="02020603050405020304" pitchFamily="18" charset="0"/>
                          <a:cs typeface="Times New Roman" panose="02020603050405020304" pitchFamily="18" charset="0"/>
                        </a:rPr>
                        <a:t>Nuscenes</a:t>
                      </a:r>
                      <a:endParaRPr lang="en-US" sz="3600" b="1"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53.2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56.6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55.9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57.3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60.6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59.4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57.7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60.8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59.9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38.6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41.8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41.7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3710782"/>
                  </a:ext>
                </a:extLst>
              </a:tr>
            </a:tbl>
          </a:graphicData>
        </a:graphic>
      </p:graphicFrame>
      <p:sp>
        <p:nvSpPr>
          <p:cNvPr id="73" name="Text Placeholder 66">
            <a:extLst>
              <a:ext uri="{FF2B5EF4-FFF2-40B4-BE49-F238E27FC236}">
                <a16:creationId xmlns:a16="http://schemas.microsoft.com/office/drawing/2014/main" id="{C826880C-35B7-91DE-B2D6-95C1ACAA7E03}"/>
              </a:ext>
            </a:extLst>
          </p:cNvPr>
          <p:cNvSpPr txBox="1">
            <a:spLocks/>
          </p:cNvSpPr>
          <p:nvPr/>
        </p:nvSpPr>
        <p:spPr>
          <a:xfrm>
            <a:off x="30050489" y="4330772"/>
            <a:ext cx="13166218" cy="1090294"/>
          </a:xfrm>
          <a:prstGeom prst="rect">
            <a:avLst/>
          </a:prstGeom>
          <a:solidFill>
            <a:schemeClr val="accent3"/>
          </a:solidFill>
          <a:ln w="38100">
            <a:solidFill>
              <a:schemeClr val="tx1"/>
            </a:solidFill>
          </a:ln>
        </p:spPr>
        <p:style>
          <a:lnRef idx="2">
            <a:schemeClr val="accent3"/>
          </a:lnRef>
          <a:fillRef idx="1">
            <a:schemeClr val="lt1"/>
          </a:fillRef>
          <a:effectRef idx="0">
            <a:schemeClr val="accent3"/>
          </a:effectRef>
          <a:fontRef idx="minor">
            <a:schemeClr val="dk1"/>
          </a:fontRef>
        </p:style>
        <p:txBody>
          <a:bodyPr vert="horz" lIns="365760" tIns="45720" rIns="91440" bIns="45720" rtlCol="0" anchor="ctr">
            <a:noAutofit/>
          </a:bodyPr>
          <a:lstStyle>
            <a:lvl1pPr marL="0" indent="0" algn="ctr" defTabSz="4389120" rtl="0" eaLnBrk="1" latinLnBrk="0" hangingPunct="1">
              <a:lnSpc>
                <a:spcPct val="100000"/>
              </a:lnSpc>
              <a:spcBef>
                <a:spcPts val="0"/>
              </a:spcBef>
              <a:buClr>
                <a:schemeClr val="bg1">
                  <a:lumMod val="65000"/>
                </a:schemeClr>
              </a:buClr>
              <a:buFont typeface="Arial" panose="020B0604020202020204" pitchFamily="34" charset="0"/>
              <a:buNone/>
              <a:defRPr sz="5400" kern="1200" cap="none"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9pPr>
          </a:lstStyle>
          <a:p>
            <a:r>
              <a:rPr lang="en-US" b="1" dirty="0">
                <a:latin typeface="Times New Roman" panose="02020603050405020304" pitchFamily="18" charset="0"/>
                <a:cs typeface="Times New Roman" panose="02020603050405020304" pitchFamily="18" charset="0"/>
              </a:rPr>
              <a:t>Open Research Problems</a:t>
            </a:r>
          </a:p>
        </p:txBody>
      </p:sp>
      <p:graphicFrame>
        <p:nvGraphicFramePr>
          <p:cNvPr id="75" name="Table 74">
            <a:extLst>
              <a:ext uri="{FF2B5EF4-FFF2-40B4-BE49-F238E27FC236}">
                <a16:creationId xmlns:a16="http://schemas.microsoft.com/office/drawing/2014/main" id="{084BDA5D-ED01-0424-4EC9-EDDDEC614661}"/>
              </a:ext>
            </a:extLst>
          </p:cNvPr>
          <p:cNvGraphicFramePr>
            <a:graphicFrameLocks noGrp="1"/>
          </p:cNvGraphicFramePr>
          <p:nvPr>
            <p:extLst>
              <p:ext uri="{D42A27DB-BD31-4B8C-83A1-F6EECF244321}">
                <p14:modId xmlns:p14="http://schemas.microsoft.com/office/powerpoint/2010/main" val="4154483501"/>
              </p:ext>
            </p:extLst>
          </p:nvPr>
        </p:nvGraphicFramePr>
        <p:xfrm>
          <a:off x="35445003" y="17293777"/>
          <a:ext cx="6813074" cy="3200399"/>
        </p:xfrm>
        <a:graphic>
          <a:graphicData uri="http://schemas.openxmlformats.org/drawingml/2006/table">
            <a:tbl>
              <a:tblPr firstRow="1" bandRow="1">
                <a:tableStyleId>{1FECB4D8-DB02-4DC6-A0A2-4F2EBAE1DC90}</a:tableStyleId>
              </a:tblPr>
              <a:tblGrid>
                <a:gridCol w="1744876">
                  <a:extLst>
                    <a:ext uri="{9D8B030D-6E8A-4147-A177-3AD203B41FA5}">
                      <a16:colId xmlns:a16="http://schemas.microsoft.com/office/drawing/2014/main" val="1289659774"/>
                    </a:ext>
                  </a:extLst>
                </a:gridCol>
                <a:gridCol w="1622953">
                  <a:extLst>
                    <a:ext uri="{9D8B030D-6E8A-4147-A177-3AD203B41FA5}">
                      <a16:colId xmlns:a16="http://schemas.microsoft.com/office/drawing/2014/main" val="525492668"/>
                    </a:ext>
                  </a:extLst>
                </a:gridCol>
                <a:gridCol w="1728797">
                  <a:extLst>
                    <a:ext uri="{9D8B030D-6E8A-4147-A177-3AD203B41FA5}">
                      <a16:colId xmlns:a16="http://schemas.microsoft.com/office/drawing/2014/main" val="2694208680"/>
                    </a:ext>
                  </a:extLst>
                </a:gridCol>
                <a:gridCol w="1716448">
                  <a:extLst>
                    <a:ext uri="{9D8B030D-6E8A-4147-A177-3AD203B41FA5}">
                      <a16:colId xmlns:a16="http://schemas.microsoft.com/office/drawing/2014/main" val="2599566786"/>
                    </a:ext>
                  </a:extLst>
                </a:gridCol>
              </a:tblGrid>
              <a:tr h="842784">
                <a:tc>
                  <a:txBody>
                    <a:bodyPr/>
                    <a:lstStyle/>
                    <a:p>
                      <a:pPr algn="ctr"/>
                      <a:r>
                        <a:rPr lang="en-US" sz="3600" dirty="0">
                          <a:ln>
                            <a:noFill/>
                          </a:ln>
                          <a:solidFill>
                            <a:schemeClr val="bg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3600" dirty="0">
                          <a:ln>
                            <a:noFill/>
                          </a:ln>
                          <a:solidFill>
                            <a:schemeClr val="bg1"/>
                          </a:solidFill>
                          <a:latin typeface="Times New Roman" panose="02020603050405020304" pitchFamily="18" charset="0"/>
                          <a:cs typeface="Times New Roman" panose="02020603050405020304" pitchFamily="18" charset="0"/>
                        </a:rPr>
                        <a:t>Inference (</a:t>
                      </a:r>
                      <a:r>
                        <a:rPr lang="en-US" sz="3600" dirty="0" err="1">
                          <a:ln>
                            <a:noFill/>
                          </a:ln>
                          <a:solidFill>
                            <a:schemeClr val="bg1"/>
                          </a:solidFill>
                          <a:latin typeface="Times New Roman" panose="02020603050405020304" pitchFamily="18" charset="0"/>
                          <a:cs typeface="Times New Roman" panose="02020603050405020304" pitchFamily="18" charset="0"/>
                        </a:rPr>
                        <a:t>ms</a:t>
                      </a:r>
                      <a:r>
                        <a:rPr lang="en-US" sz="3600" dirty="0">
                          <a:ln>
                            <a:noFill/>
                          </a:ln>
                          <a:solidFill>
                            <a:schemeClr val="bg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n>
                          <a:noFill/>
                        </a:ln>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7471145"/>
                  </a:ext>
                </a:extLst>
              </a:tr>
              <a:tr h="773681">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Dataset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600" b="1" dirty="0">
                          <a:ln>
                            <a:noFill/>
                          </a:ln>
                          <a:solidFill>
                            <a:schemeClr val="tx1"/>
                          </a:solidFill>
                          <a:latin typeface="Times New Roman" panose="02020603050405020304" pitchFamily="18" charset="0"/>
                          <a:cs typeface="Times New Roman" panose="02020603050405020304" pitchFamily="18" charset="0"/>
                        </a:rPr>
                        <a:t>V11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3407355"/>
                  </a:ext>
                </a:extLst>
              </a:tr>
              <a:tr h="828943">
                <a:tc>
                  <a:txBody>
                    <a:bodyPr/>
                    <a:lstStyle/>
                    <a:p>
                      <a:r>
                        <a:rPr lang="en-US" sz="3600" b="1" dirty="0">
                          <a:ln>
                            <a:noFill/>
                          </a:ln>
                          <a:solidFill>
                            <a:schemeClr val="tx1"/>
                          </a:solidFill>
                          <a:latin typeface="Times New Roman" panose="02020603050405020304" pitchFamily="18" charset="0"/>
                          <a:cs typeface="Times New Roman" panose="02020603050405020304" pitchFamily="18" charset="0"/>
                        </a:rPr>
                        <a:t>KITTI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5710434"/>
                  </a:ext>
                </a:extLst>
              </a:tr>
              <a:tr h="754991">
                <a:tc>
                  <a:txBody>
                    <a:bodyPr/>
                    <a:lstStyle/>
                    <a:p>
                      <a:r>
                        <a:rPr lang="en-US" sz="3600" b="1" dirty="0">
                          <a:ln>
                            <a:noFill/>
                          </a:ln>
                          <a:solidFill>
                            <a:schemeClr val="tx1"/>
                          </a:solidFill>
                          <a:latin typeface="Times New Roman" panose="02020603050405020304" pitchFamily="18" charset="0"/>
                          <a:cs typeface="Times New Roman" panose="02020603050405020304" pitchFamily="18" charset="0"/>
                        </a:rPr>
                        <a:t>BDD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600" dirty="0">
                          <a:ln>
                            <a:noFill/>
                          </a:ln>
                          <a:solidFill>
                            <a:schemeClr val="tx1"/>
                          </a:solidFill>
                          <a:latin typeface="Times New Roman" panose="02020603050405020304" pitchFamily="18" charset="0"/>
                          <a:cs typeface="Times New Roman" panose="02020603050405020304" pitchFamily="18" charset="0"/>
                        </a:rPr>
                        <a:t>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4237371"/>
                  </a:ext>
                </a:extLst>
              </a:tr>
            </a:tbl>
          </a:graphicData>
        </a:graphic>
      </p:graphicFrame>
      <p:sp>
        <p:nvSpPr>
          <p:cNvPr id="76" name="Content Placeholder 10">
            <a:extLst>
              <a:ext uri="{FF2B5EF4-FFF2-40B4-BE49-F238E27FC236}">
                <a16:creationId xmlns:a16="http://schemas.microsoft.com/office/drawing/2014/main" id="{62417EF6-35EC-80BA-8CB2-4E3E970EDD6D}"/>
              </a:ext>
            </a:extLst>
          </p:cNvPr>
          <p:cNvSpPr txBox="1">
            <a:spLocks/>
          </p:cNvSpPr>
          <p:nvPr/>
        </p:nvSpPr>
        <p:spPr>
          <a:xfrm>
            <a:off x="16245642" y="20438753"/>
            <a:ext cx="17245600" cy="644163"/>
          </a:xfrm>
          <a:prstGeom prst="rect">
            <a:avLst/>
          </a:prstGeom>
        </p:spPr>
        <p:txBody>
          <a:bodyPr vert="horz" lIns="91440" tIns="182880" rIns="91440" bIns="45720" rtlCol="0">
            <a:no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ctr">
              <a:buNone/>
            </a:pPr>
            <a:r>
              <a:rPr lang="en-US" sz="3600" b="1" u="sng" dirty="0">
                <a:latin typeface="Times New Roman" panose="02020603050405020304" pitchFamily="18" charset="0"/>
                <a:cs typeface="Times New Roman" panose="02020603050405020304" pitchFamily="18" charset="0"/>
              </a:rPr>
              <a:t>Tab 1. </a:t>
            </a:r>
            <a:r>
              <a:rPr lang="en-US" sz="3600" b="1" u="sng" dirty="0" err="1">
                <a:latin typeface="Times New Roman" panose="02020603050405020304" pitchFamily="18" charset="0"/>
                <a:cs typeface="Times New Roman" panose="02020603050405020304" pitchFamily="18" charset="0"/>
              </a:rPr>
              <a:t>mAP</a:t>
            </a:r>
            <a:r>
              <a:rPr lang="en-US" sz="3600" b="1" u="sng" dirty="0">
                <a:latin typeface="Times New Roman" panose="02020603050405020304" pitchFamily="18" charset="0"/>
                <a:cs typeface="Times New Roman" panose="02020603050405020304" pitchFamily="18" charset="0"/>
              </a:rPr>
              <a:t> Comparison of Centralized and Federated Learning across YOLO versions</a:t>
            </a:r>
          </a:p>
        </p:txBody>
      </p:sp>
      <p:sp>
        <p:nvSpPr>
          <p:cNvPr id="79" name="Content Placeholder 10">
            <a:extLst>
              <a:ext uri="{FF2B5EF4-FFF2-40B4-BE49-F238E27FC236}">
                <a16:creationId xmlns:a16="http://schemas.microsoft.com/office/drawing/2014/main" id="{B84001DE-DB41-B437-F4FE-993901685A7A}"/>
              </a:ext>
            </a:extLst>
          </p:cNvPr>
          <p:cNvSpPr txBox="1">
            <a:spLocks/>
          </p:cNvSpPr>
          <p:nvPr/>
        </p:nvSpPr>
        <p:spPr>
          <a:xfrm>
            <a:off x="35380037" y="20393236"/>
            <a:ext cx="7299467" cy="778995"/>
          </a:xfrm>
          <a:prstGeom prst="rect">
            <a:avLst/>
          </a:prstGeom>
        </p:spPr>
        <p:txBody>
          <a:bodyPr vert="horz" lIns="91440" tIns="182880" rIns="91440" bIns="45720" rtlCol="0">
            <a:no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ctr">
              <a:buNone/>
            </a:pPr>
            <a:r>
              <a:rPr lang="en-US" sz="3600" b="1" u="sng" dirty="0">
                <a:latin typeface="Times New Roman" panose="02020603050405020304" pitchFamily="18" charset="0"/>
                <a:cs typeface="Times New Roman" panose="02020603050405020304" pitchFamily="18" charset="0"/>
              </a:rPr>
              <a:t>Tab 2. Inference across models</a:t>
            </a:r>
          </a:p>
        </p:txBody>
      </p:sp>
      <p:sp>
        <p:nvSpPr>
          <p:cNvPr id="83" name="Content Placeholder 10">
            <a:extLst>
              <a:ext uri="{FF2B5EF4-FFF2-40B4-BE49-F238E27FC236}">
                <a16:creationId xmlns:a16="http://schemas.microsoft.com/office/drawing/2014/main" id="{E5D86AFE-B78D-0F9C-2AAA-3F9AC835540A}"/>
              </a:ext>
            </a:extLst>
          </p:cNvPr>
          <p:cNvSpPr txBox="1">
            <a:spLocks/>
          </p:cNvSpPr>
          <p:nvPr/>
        </p:nvSpPr>
        <p:spPr>
          <a:xfrm>
            <a:off x="17240465" y="25358625"/>
            <a:ext cx="15657286" cy="688721"/>
          </a:xfrm>
          <a:prstGeom prst="rect">
            <a:avLst/>
          </a:prstGeom>
        </p:spPr>
        <p:txBody>
          <a:bodyPr vert="horz" lIns="91440" tIns="182880" rIns="91440" bIns="45720" rtlCol="0">
            <a:no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ctr">
              <a:buNone/>
            </a:pPr>
            <a:r>
              <a:rPr lang="en-US" sz="3600" b="1" u="sng" dirty="0">
                <a:latin typeface="Times New Roman" panose="02020603050405020304" pitchFamily="18" charset="0"/>
                <a:cs typeface="Times New Roman" panose="02020603050405020304" pitchFamily="18" charset="0"/>
              </a:rPr>
              <a:t>Figure 4. Effect of client dropout on </a:t>
            </a:r>
            <a:r>
              <a:rPr lang="en-US" sz="3600" b="1" u="sng" dirty="0" err="1">
                <a:latin typeface="Times New Roman" panose="02020603050405020304" pitchFamily="18" charset="0"/>
                <a:cs typeface="Times New Roman" panose="02020603050405020304" pitchFamily="18" charset="0"/>
              </a:rPr>
              <a:t>mAP</a:t>
            </a:r>
            <a:r>
              <a:rPr lang="en-US" sz="3600" b="1" u="sng" dirty="0">
                <a:latin typeface="Times New Roman" panose="02020603050405020304" pitchFamily="18" charset="0"/>
                <a:cs typeface="Times New Roman" panose="02020603050405020304" pitchFamily="18" charset="0"/>
              </a:rPr>
              <a:t> for KITTI and BDD100K YOLOv8</a:t>
            </a:r>
          </a:p>
        </p:txBody>
      </p:sp>
      <p:sp>
        <p:nvSpPr>
          <p:cNvPr id="84" name="Content Placeholder 10">
            <a:extLst>
              <a:ext uri="{FF2B5EF4-FFF2-40B4-BE49-F238E27FC236}">
                <a16:creationId xmlns:a16="http://schemas.microsoft.com/office/drawing/2014/main" id="{F57041A2-BAC7-AFFB-748D-362BC3DBEEA2}"/>
              </a:ext>
            </a:extLst>
          </p:cNvPr>
          <p:cNvSpPr txBox="1">
            <a:spLocks/>
          </p:cNvSpPr>
          <p:nvPr/>
        </p:nvSpPr>
        <p:spPr>
          <a:xfrm>
            <a:off x="17182548" y="31311443"/>
            <a:ext cx="15418408" cy="717536"/>
          </a:xfrm>
          <a:prstGeom prst="rect">
            <a:avLst/>
          </a:prstGeom>
        </p:spPr>
        <p:txBody>
          <a:bodyPr vert="horz" lIns="91440" tIns="182880" rIns="91440" bIns="45720" rtlCol="0">
            <a:no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ctr">
              <a:buNone/>
            </a:pPr>
            <a:r>
              <a:rPr lang="en-US" sz="3600" b="1" u="sng" dirty="0">
                <a:latin typeface="Times New Roman" panose="02020603050405020304" pitchFamily="18" charset="0"/>
                <a:cs typeface="Times New Roman" panose="02020603050405020304" pitchFamily="18" charset="0"/>
              </a:rPr>
              <a:t>Figure 5. Client resolution heterogeneity and its effect on accuracy YOLOv8</a:t>
            </a:r>
          </a:p>
        </p:txBody>
      </p:sp>
      <p:sp>
        <p:nvSpPr>
          <p:cNvPr id="87" name="Content Placeholder 10">
            <a:extLst>
              <a:ext uri="{FF2B5EF4-FFF2-40B4-BE49-F238E27FC236}">
                <a16:creationId xmlns:a16="http://schemas.microsoft.com/office/drawing/2014/main" id="{8CA3BFD7-2A25-23D3-0DEB-F502B0038D3A}"/>
              </a:ext>
            </a:extLst>
          </p:cNvPr>
          <p:cNvSpPr txBox="1">
            <a:spLocks/>
          </p:cNvSpPr>
          <p:nvPr/>
        </p:nvSpPr>
        <p:spPr>
          <a:xfrm>
            <a:off x="34941522" y="27394799"/>
            <a:ext cx="7662959" cy="571500"/>
          </a:xfrm>
          <a:prstGeom prst="rect">
            <a:avLst/>
          </a:prstGeom>
        </p:spPr>
        <p:txBody>
          <a:bodyPr vert="horz" lIns="91440" tIns="182880" rIns="91440" bIns="45720" rtlCol="0">
            <a:no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ctr">
              <a:buNone/>
            </a:pPr>
            <a:r>
              <a:rPr lang="en-US" b="1" u="sng" dirty="0">
                <a:latin typeface="Times New Roman" panose="02020603050405020304" pitchFamily="18" charset="0"/>
                <a:cs typeface="Times New Roman" panose="02020603050405020304" pitchFamily="18" charset="0"/>
              </a:rPr>
              <a:t>Figure 6. Weather performance. In‑Domain (Blue), Cross‑Domain (Red)</a:t>
            </a:r>
          </a:p>
        </p:txBody>
      </p:sp>
      <p:pic>
        <p:nvPicPr>
          <p:cNvPr id="6" name="Picture 5" descr="A graph with a bar graph&#10;&#10;AI-generated content may be incorrect.">
            <a:extLst>
              <a:ext uri="{FF2B5EF4-FFF2-40B4-BE49-F238E27FC236}">
                <a16:creationId xmlns:a16="http://schemas.microsoft.com/office/drawing/2014/main" id="{1F7A9A1C-82D5-2002-1CD0-5C4CAB2E3C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806672" y="21772301"/>
            <a:ext cx="18020115" cy="3563751"/>
          </a:xfrm>
          <a:prstGeom prst="rect">
            <a:avLst/>
          </a:prstGeom>
          <a:ln w="63500" cap="sq">
            <a:solidFill>
              <a:srgbClr val="004D40"/>
            </a:solidFill>
            <a:miter lim="800000"/>
          </a:ln>
          <a:effectLst>
            <a:outerShdw blurRad="57150" dist="50800" dir="2700000" algn="tl" rotWithShape="0">
              <a:srgbClr val="000000">
                <a:alpha val="40000"/>
              </a:srgbClr>
            </a:outerShdw>
          </a:effectLst>
        </p:spPr>
      </p:pic>
      <p:sp>
        <p:nvSpPr>
          <p:cNvPr id="9" name="Text Placeholder 66">
            <a:extLst>
              <a:ext uri="{FF2B5EF4-FFF2-40B4-BE49-F238E27FC236}">
                <a16:creationId xmlns:a16="http://schemas.microsoft.com/office/drawing/2014/main" id="{537E6771-317C-0CD1-0372-417DD5B69552}"/>
              </a:ext>
            </a:extLst>
          </p:cNvPr>
          <p:cNvSpPr txBox="1">
            <a:spLocks/>
          </p:cNvSpPr>
          <p:nvPr/>
        </p:nvSpPr>
        <p:spPr>
          <a:xfrm>
            <a:off x="497867" y="21389601"/>
            <a:ext cx="13851885" cy="1101999"/>
          </a:xfrm>
          <a:prstGeom prst="rect">
            <a:avLst/>
          </a:prstGeom>
          <a:solidFill>
            <a:schemeClr val="accent3"/>
          </a:solidFill>
          <a:ln w="38100">
            <a:solidFill>
              <a:schemeClr val="tx1"/>
            </a:solidFill>
          </a:ln>
        </p:spPr>
        <p:style>
          <a:lnRef idx="2">
            <a:schemeClr val="accent3"/>
          </a:lnRef>
          <a:fillRef idx="1">
            <a:schemeClr val="lt1"/>
          </a:fillRef>
          <a:effectRef idx="0">
            <a:schemeClr val="accent3"/>
          </a:effectRef>
          <a:fontRef idx="minor">
            <a:schemeClr val="dk1"/>
          </a:fontRef>
        </p:style>
        <p:txBody>
          <a:bodyPr vert="horz" lIns="365760" tIns="45720" rIns="91440" bIns="45720" rtlCol="0" anchor="ctr">
            <a:noAutofit/>
          </a:bodyPr>
          <a:lstStyle>
            <a:lvl1pPr marL="0" indent="0" algn="ctr" defTabSz="4389120" rtl="0" eaLnBrk="1" latinLnBrk="0" hangingPunct="1">
              <a:lnSpc>
                <a:spcPct val="100000"/>
              </a:lnSpc>
              <a:spcBef>
                <a:spcPts val="0"/>
              </a:spcBef>
              <a:buClr>
                <a:schemeClr val="bg1">
                  <a:lumMod val="65000"/>
                </a:schemeClr>
              </a:buClr>
              <a:buFont typeface="Arial" panose="020B0604020202020204" pitchFamily="34" charset="0"/>
              <a:buNone/>
              <a:defRPr sz="5400" kern="1200" cap="none"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9pPr>
          </a:lstStyle>
          <a:p>
            <a:r>
              <a:rPr lang="en-US" b="1" dirty="0">
                <a:latin typeface="Times New Roman" panose="02020603050405020304" pitchFamily="18" charset="0"/>
                <a:cs typeface="Times New Roman" panose="02020603050405020304" pitchFamily="18" charset="0"/>
              </a:rPr>
              <a:t>Motivation</a:t>
            </a:r>
          </a:p>
        </p:txBody>
      </p:sp>
      <p:pic>
        <p:nvPicPr>
          <p:cNvPr id="15" name="Picture 14" descr="A qr code with a few squares&#10;&#10;AI-generated content may be incorrect.">
            <a:extLst>
              <a:ext uri="{FF2B5EF4-FFF2-40B4-BE49-F238E27FC236}">
                <a16:creationId xmlns:a16="http://schemas.microsoft.com/office/drawing/2014/main" id="{A1AA04AF-957F-7A0C-D56A-18EC8443E74E}"/>
              </a:ext>
            </a:extLst>
          </p:cNvPr>
          <p:cNvPicPr>
            <a:picLocks noChangeAspect="1"/>
          </p:cNvPicPr>
          <p:nvPr/>
        </p:nvPicPr>
        <p:blipFill>
          <a:blip r:embed="rId8">
            <a:extLst>
              <a:ext uri="{28A0092B-C50C-407E-A947-70E740481C1C}">
                <a14:useLocalDpi xmlns:a14="http://schemas.microsoft.com/office/drawing/2010/main" val="0"/>
              </a:ext>
            </a:extLst>
          </a:blip>
          <a:srcRect l="2538" t="2083" r="1922" b="2376"/>
          <a:stretch>
            <a:fillRect/>
          </a:stretch>
        </p:blipFill>
        <p:spPr>
          <a:xfrm>
            <a:off x="39691734" y="28832036"/>
            <a:ext cx="2912748" cy="2912748"/>
          </a:xfrm>
          <a:prstGeom prst="rect">
            <a:avLst/>
          </a:prstGeom>
        </p:spPr>
      </p:pic>
      <p:sp>
        <p:nvSpPr>
          <p:cNvPr id="19" name="Text Placeholder 66">
            <a:extLst>
              <a:ext uri="{FF2B5EF4-FFF2-40B4-BE49-F238E27FC236}">
                <a16:creationId xmlns:a16="http://schemas.microsoft.com/office/drawing/2014/main" id="{F376E376-92D4-5098-680A-693BDCBEF279}"/>
              </a:ext>
            </a:extLst>
          </p:cNvPr>
          <p:cNvSpPr txBox="1">
            <a:spLocks/>
          </p:cNvSpPr>
          <p:nvPr/>
        </p:nvSpPr>
        <p:spPr>
          <a:xfrm>
            <a:off x="15260761" y="4319067"/>
            <a:ext cx="13851885" cy="1101999"/>
          </a:xfrm>
          <a:prstGeom prst="rect">
            <a:avLst/>
          </a:prstGeom>
          <a:solidFill>
            <a:schemeClr val="accent3"/>
          </a:solidFill>
          <a:ln w="38100">
            <a:solidFill>
              <a:schemeClr val="tx1"/>
            </a:solidFill>
          </a:ln>
        </p:spPr>
        <p:style>
          <a:lnRef idx="2">
            <a:schemeClr val="accent3"/>
          </a:lnRef>
          <a:fillRef idx="1">
            <a:schemeClr val="lt1"/>
          </a:fillRef>
          <a:effectRef idx="0">
            <a:schemeClr val="accent3"/>
          </a:effectRef>
          <a:fontRef idx="minor">
            <a:schemeClr val="dk1"/>
          </a:fontRef>
        </p:style>
        <p:txBody>
          <a:bodyPr vert="horz" lIns="365760" tIns="45720" rIns="91440" bIns="45720" rtlCol="0" anchor="ctr">
            <a:noAutofit/>
          </a:bodyPr>
          <a:lstStyle>
            <a:lvl1pPr marL="0" indent="0" algn="ctr" defTabSz="4389120" rtl="0" eaLnBrk="1" latinLnBrk="0" hangingPunct="1">
              <a:lnSpc>
                <a:spcPct val="100000"/>
              </a:lnSpc>
              <a:spcBef>
                <a:spcPts val="0"/>
              </a:spcBef>
              <a:buClr>
                <a:schemeClr val="bg1">
                  <a:lumMod val="65000"/>
                </a:schemeClr>
              </a:buClr>
              <a:buFont typeface="Arial" panose="020B0604020202020204" pitchFamily="34" charset="0"/>
              <a:buNone/>
              <a:defRPr sz="5400" kern="1200" cap="none" baseline="0">
                <a:solidFill>
                  <a:schemeClr val="bg1"/>
                </a:solidFill>
                <a:latin typeface="+mj-lt"/>
                <a:ea typeface="+mn-ea"/>
                <a:cs typeface="+mn-cs"/>
              </a:defRPr>
            </a:lvl1pPr>
            <a:lvl2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2pPr>
            <a:lvl3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3pPr>
            <a:lvl4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4pPr>
            <a:lvl5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5pPr>
            <a:lvl6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6pPr>
            <a:lvl7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7pPr>
            <a:lvl8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8pPr>
            <a:lvl9pPr marL="0" indent="0" algn="l" defTabSz="4389120" rtl="0" eaLnBrk="1" latinLnBrk="0" hangingPunct="1">
              <a:lnSpc>
                <a:spcPct val="100000"/>
              </a:lnSpc>
              <a:spcBef>
                <a:spcPts val="0"/>
              </a:spcBef>
              <a:buClr>
                <a:schemeClr val="bg1">
                  <a:lumMod val="65000"/>
                </a:schemeClr>
              </a:buClr>
              <a:buFont typeface="Arial" panose="020B0604020202020204" pitchFamily="34" charset="0"/>
              <a:buNone/>
              <a:defRPr sz="6000" kern="1200" cap="all" baseline="0">
                <a:solidFill>
                  <a:schemeClr val="bg1"/>
                </a:solidFill>
                <a:latin typeface="+mj-lt"/>
                <a:ea typeface="+mn-ea"/>
                <a:cs typeface="+mn-cs"/>
              </a:defRPr>
            </a:lvl9pPr>
          </a:lstStyle>
          <a:p>
            <a:r>
              <a:rPr lang="en-US" b="1" dirty="0">
                <a:latin typeface="Times New Roman" panose="02020603050405020304" pitchFamily="18" charset="0"/>
                <a:cs typeface="Times New Roman" panose="02020603050405020304" pitchFamily="18" charset="0"/>
              </a:rPr>
              <a:t>FL Evaluation Framework</a:t>
            </a:r>
          </a:p>
        </p:txBody>
      </p:sp>
      <p:pic>
        <p:nvPicPr>
          <p:cNvPr id="21" name="Picture 20" descr="A screenshot of a graph showing the weather&#10;&#10;AI-generated content may be incorrect.">
            <a:extLst>
              <a:ext uri="{FF2B5EF4-FFF2-40B4-BE49-F238E27FC236}">
                <a16:creationId xmlns:a16="http://schemas.microsoft.com/office/drawing/2014/main" id="{89B5C680-5483-6FF8-B9BA-5DC2CF19BC2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665835" y="21688421"/>
            <a:ext cx="8214335" cy="5771617"/>
          </a:xfrm>
          <a:prstGeom prst="rect">
            <a:avLst/>
          </a:prstGeom>
        </p:spPr>
      </p:pic>
      <p:sp>
        <p:nvSpPr>
          <p:cNvPr id="23" name="TextBox 22">
            <a:extLst>
              <a:ext uri="{FF2B5EF4-FFF2-40B4-BE49-F238E27FC236}">
                <a16:creationId xmlns:a16="http://schemas.microsoft.com/office/drawing/2014/main" id="{94B8ABF5-C5B8-389D-8964-161EBBDF3AB6}"/>
              </a:ext>
            </a:extLst>
          </p:cNvPr>
          <p:cNvSpPr txBox="1"/>
          <p:nvPr/>
        </p:nvSpPr>
        <p:spPr>
          <a:xfrm>
            <a:off x="30050489" y="5686149"/>
            <a:ext cx="13166218" cy="7636475"/>
          </a:xfrm>
          <a:prstGeom prst="rect">
            <a:avLst/>
          </a:prstGeom>
          <a:noFill/>
        </p:spPr>
        <p:txBody>
          <a:bodyPr wrap="square">
            <a:noAutofit/>
          </a:bodyPr>
          <a:lstStyle/>
          <a:p>
            <a:pPr algn="just">
              <a:spcAft>
                <a:spcPts val="1800"/>
              </a:spcAft>
              <a:buNone/>
            </a:pPr>
            <a:r>
              <a:rPr lang="en-US" sz="3600" b="1" dirty="0">
                <a:latin typeface="Times New Roman" panose="02020603050405020304" pitchFamily="18" charset="0"/>
                <a:cs typeface="Times New Roman" panose="02020603050405020304" pitchFamily="18" charset="0"/>
              </a:rPr>
              <a:t>Datasets: </a:t>
            </a:r>
            <a:r>
              <a:rPr lang="en-US" sz="3600" dirty="0">
                <a:latin typeface="Times New Roman" panose="02020603050405020304" pitchFamily="18" charset="0"/>
                <a:cs typeface="Times New Roman" panose="02020603050405020304" pitchFamily="18" charset="0"/>
              </a:rPr>
              <a:t>Limited diversity, static snapshots, and lack of standardized multimodal benchmarks hinder reproducibility and deployment.</a:t>
            </a:r>
          </a:p>
          <a:p>
            <a:pPr algn="just">
              <a:spcAft>
                <a:spcPts val="1800"/>
              </a:spcAft>
              <a:buNone/>
            </a:pPr>
            <a:r>
              <a:rPr lang="en-US" sz="3600" b="1" dirty="0">
                <a:latin typeface="Times New Roman" panose="02020603050405020304" pitchFamily="18" charset="0"/>
                <a:cs typeface="Times New Roman" panose="02020603050405020304" pitchFamily="18" charset="0"/>
              </a:rPr>
              <a:t>Models: </a:t>
            </a:r>
            <a:r>
              <a:rPr lang="en-US" sz="3600" dirty="0">
                <a:latin typeface="Times New Roman" panose="02020603050405020304" pitchFamily="18" charset="0"/>
                <a:cs typeface="Times New Roman" panose="02020603050405020304" pitchFamily="18" charset="0"/>
              </a:rPr>
              <a:t>Detection struggles with small objects, long-tail classes, and robustness; federated-ready, secure, and efficient designs are needed.</a:t>
            </a:r>
          </a:p>
          <a:p>
            <a:pPr algn="just">
              <a:spcAft>
                <a:spcPts val="1800"/>
              </a:spcAft>
              <a:buNone/>
            </a:pPr>
            <a:r>
              <a:rPr lang="en-US" sz="3600" b="1" dirty="0">
                <a:latin typeface="Times New Roman" panose="02020603050405020304" pitchFamily="18" charset="0"/>
                <a:cs typeface="Times New Roman" panose="02020603050405020304" pitchFamily="18" charset="0"/>
              </a:rPr>
              <a:t>Aggregation: </a:t>
            </a:r>
            <a:r>
              <a:rPr lang="en-US" sz="3600" dirty="0">
                <a:latin typeface="Times New Roman" panose="02020603050405020304" pitchFamily="18" charset="0"/>
                <a:cs typeface="Times New Roman" panose="02020603050405020304" pitchFamily="18" charset="0"/>
              </a:rPr>
              <a:t>Adaptive strategies must address fairness, resource variability, bandwidth, and fault tolerance under dynamic conditions.</a:t>
            </a:r>
          </a:p>
          <a:p>
            <a:pPr algn="just">
              <a:spcAft>
                <a:spcPts val="1800"/>
              </a:spcAft>
              <a:buNone/>
            </a:pPr>
            <a:r>
              <a:rPr lang="en-US" sz="3600" b="1" dirty="0">
                <a:latin typeface="Times New Roman" panose="02020603050405020304" pitchFamily="18" charset="0"/>
                <a:cs typeface="Times New Roman" panose="02020603050405020304" pitchFamily="18" charset="0"/>
              </a:rPr>
              <a:t>Security &amp; Privacy: </a:t>
            </a:r>
            <a:r>
              <a:rPr lang="en-US" sz="3600" dirty="0">
                <a:latin typeface="Times New Roman" panose="02020603050405020304" pitchFamily="18" charset="0"/>
                <a:cs typeface="Times New Roman" panose="02020603050405020304" pitchFamily="18" charset="0"/>
              </a:rPr>
              <a:t>Defenses against poisoning, backdoors, and inference leakage remain unresolved; lightweight privacy-preserving and unlearning methods are essential. </a:t>
            </a:r>
          </a:p>
          <a:p>
            <a:pPr algn="just">
              <a:spcAft>
                <a:spcPts val="1800"/>
              </a:spcAft>
              <a:buNone/>
            </a:pPr>
            <a:r>
              <a:rPr lang="en-US" sz="3600" b="1" dirty="0">
                <a:latin typeface="Times New Roman" panose="02020603050405020304" pitchFamily="18" charset="0"/>
                <a:cs typeface="Times New Roman" panose="02020603050405020304" pitchFamily="18" charset="0"/>
              </a:rPr>
              <a:t>Environment: </a:t>
            </a:r>
            <a:r>
              <a:rPr lang="en-US" sz="3600" dirty="0">
                <a:latin typeface="Times New Roman" panose="02020603050405020304" pitchFamily="18" charset="0"/>
                <a:cs typeface="Times New Roman" panose="02020603050405020304" pitchFamily="18" charset="0"/>
              </a:rPr>
              <a:t>Weather and lighting shifts degrade generalization; robust multimodal adaptation and standardized evaluation protocols are lacking.</a:t>
            </a:r>
          </a:p>
        </p:txBody>
      </p:sp>
      <p:sp>
        <p:nvSpPr>
          <p:cNvPr id="31" name="TextBox 30">
            <a:extLst>
              <a:ext uri="{FF2B5EF4-FFF2-40B4-BE49-F238E27FC236}">
                <a16:creationId xmlns:a16="http://schemas.microsoft.com/office/drawing/2014/main" id="{D2074B03-90B4-B453-0C0D-7CF1CB136A40}"/>
              </a:ext>
            </a:extLst>
          </p:cNvPr>
          <p:cNvSpPr txBox="1"/>
          <p:nvPr/>
        </p:nvSpPr>
        <p:spPr>
          <a:xfrm>
            <a:off x="35688585" y="29443048"/>
            <a:ext cx="2745630" cy="1690724"/>
          </a:xfrm>
          <a:prstGeom prst="rect">
            <a:avLst/>
          </a:prstGeom>
          <a:noFill/>
        </p:spPr>
        <p:txBody>
          <a:bodyPr wrap="square">
            <a:noAutofit/>
          </a:bodyPr>
          <a:lstStyle/>
          <a:p>
            <a:r>
              <a:rPr lang="en-US" sz="5000" b="1" dirty="0">
                <a:solidFill>
                  <a:srgbClr val="004D4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FULL </a:t>
            </a:r>
          </a:p>
          <a:p>
            <a:r>
              <a:rPr lang="en-US" sz="5000" b="1" dirty="0">
                <a:solidFill>
                  <a:srgbClr val="004D4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PAPER</a:t>
            </a:r>
            <a:endParaRPr lang="en-US" sz="5000" b="1" dirty="0">
              <a:solidFill>
                <a:srgbClr val="004D40"/>
              </a:solidFill>
              <a:effectLst>
                <a:outerShdw blurRad="38100" dist="38100" dir="2700000" algn="tl">
                  <a:srgbClr val="000000">
                    <a:alpha val="43137"/>
                  </a:srgbClr>
                </a:outerShdw>
              </a:effectLst>
            </a:endParaRPr>
          </a:p>
        </p:txBody>
      </p:sp>
      <p:cxnSp>
        <p:nvCxnSpPr>
          <p:cNvPr id="33" name="Straight Arrow Connector 32">
            <a:extLst>
              <a:ext uri="{FF2B5EF4-FFF2-40B4-BE49-F238E27FC236}">
                <a16:creationId xmlns:a16="http://schemas.microsoft.com/office/drawing/2014/main" id="{743FF3CC-9E3D-1311-1C87-A3584723DC82}"/>
              </a:ext>
            </a:extLst>
          </p:cNvPr>
          <p:cNvCxnSpPr>
            <a:cxnSpLocks/>
            <a:stCxn id="31" idx="3"/>
            <a:endCxn id="15" idx="1"/>
          </p:cNvCxnSpPr>
          <p:nvPr/>
        </p:nvCxnSpPr>
        <p:spPr>
          <a:xfrm>
            <a:off x="38434215" y="30288410"/>
            <a:ext cx="1257519" cy="0"/>
          </a:xfrm>
          <a:prstGeom prst="straightConnector1">
            <a:avLst/>
          </a:prstGeom>
          <a:ln w="76200" cap="flat" cmpd="sng" algn="ctr">
            <a:solidFill>
              <a:srgbClr val="004D4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0" name="Picture 9" descr="A white background with green text&#10;&#10;AI-generated content may be incorrect.">
            <a:extLst>
              <a:ext uri="{FF2B5EF4-FFF2-40B4-BE49-F238E27FC236}">
                <a16:creationId xmlns:a16="http://schemas.microsoft.com/office/drawing/2014/main" id="{20D1D692-D7F4-AAFD-1733-55EAED081FB3}"/>
              </a:ext>
            </a:extLst>
          </p:cNvPr>
          <p:cNvPicPr>
            <a:picLocks noChangeAspect="1"/>
          </p:cNvPicPr>
          <p:nvPr/>
        </p:nvPicPr>
        <p:blipFill>
          <a:blip r:embed="rId10">
            <a:extLst>
              <a:ext uri="{28A0092B-C50C-407E-A947-70E740481C1C}">
                <a14:useLocalDpi xmlns:a14="http://schemas.microsoft.com/office/drawing/2010/main" val="0"/>
              </a:ext>
            </a:extLst>
          </a:blip>
          <a:srcRect l="1438" t="11629" r="4777" b="8807"/>
          <a:stretch>
            <a:fillRect/>
          </a:stretch>
        </p:blipFill>
        <p:spPr>
          <a:xfrm>
            <a:off x="146961" y="160509"/>
            <a:ext cx="9945306" cy="2304702"/>
          </a:xfrm>
          <a:prstGeom prst="rect">
            <a:avLst/>
          </a:prstGeom>
        </p:spPr>
      </p:pic>
    </p:spTree>
    <p:extLst>
      <p:ext uri="{BB962C8B-B14F-4D97-AF65-F5344CB8AC3E}">
        <p14:creationId xmlns:p14="http://schemas.microsoft.com/office/powerpoint/2010/main" val="14479271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f4b8a2-ad4f-41b5-9a91-284d2cc38f56}" enabled="1" method="Standar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1408</TotalTime>
  <Words>524</Words>
  <Application>Microsoft Macintosh PowerPoint</Application>
  <PresentationFormat>Custom</PresentationFormat>
  <Paragraphs>101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Evaluating Federated Object Detection for  Connected Autonomous Vehicles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Cherukuri, Komala Subramanyam</dc:creator>
  <cp:lastModifiedBy>Cherukuri, Komala Subramanyam</cp:lastModifiedBy>
  <cp:revision>31</cp:revision>
  <dcterms:created xsi:type="dcterms:W3CDTF">2024-09-11T02:31:04Z</dcterms:created>
  <dcterms:modified xsi:type="dcterms:W3CDTF">2026-02-16T05:39:50Z</dcterms:modified>
</cp:coreProperties>
</file>